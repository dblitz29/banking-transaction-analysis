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Banking Transaction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End-to-End ML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Banking fraud detection system to automatically identify suspicious transactions</a:t>
            </a:r>
          </a:p>
          <a:p>
            <a:pPr>
              <a:defRPr sz="2000"/>
            </a:pPr>
            <a:r>
              <a:t>Analyzes transaction patterns using Isolation Forest model with 13 engineered features</a:t>
            </a:r>
          </a:p>
          <a:p>
            <a:pPr>
              <a:defRPr sz="2000"/>
            </a:pPr>
            <a:r>
              <a:t>Provides anomaly scores and risk level classification (high/medium/low)</a:t>
            </a:r>
          </a:p>
          <a:p>
            <a:pPr>
              <a:defRPr sz="2000"/>
            </a:pPr>
            <a:r>
              <a:t>API endpoint delivers real-time scoring with latency under 10ms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Dataset: 2,512 transactions from Kaggle Bank Transaction Dataset</a:t>
            </a:r>
          </a:p>
          <a:p>
            <a:pPr>
              <a:defRPr sz="2000"/>
            </a:pPr>
            <a:r>
              <a:t>EDA: Right-skewed amounts, bimodal age (18-25, 45-60), peak activity during business hours</a:t>
            </a:r>
          </a:p>
          <a:p>
            <a:pPr>
              <a:defRPr sz="2000"/>
            </a:pPr>
            <a:r>
              <a:t>Model: Isolation Forest (5% contamination) + LOF validation</a:t>
            </a:r>
          </a:p>
          <a:p>
            <a:pPr>
              <a:defRPr sz="2000"/>
            </a:pPr>
            <a:r>
              <a:t>Results: ~125 anomalies, ~85 consensus anomalies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Q1: Exploratory Data Analysis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Q1: Exploratory Data Analysis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Dataset Overview</a:t>
            </a:r>
          </a:p>
          <a:p>
            <a:pPr>
              <a:defRPr sz="2000"/>
            </a:pPr>
            <a:r>
              <a:t>• 2,512 transactions from Kaggle dataset</a:t>
            </a:r>
          </a:p>
          <a:p>
            <a:pPr>
              <a:defRPr sz="2000"/>
            </a:pPr>
            <a:r>
              <a:t>• 16 columns: amounts, accounts, devices, channels, demographics</a:t>
            </a:r>
          </a:p>
          <a:p>
            <a:pPr>
              <a:defRPr sz="2000"/>
            </a:pPr>
            <a:r>
              <a:t>• No missing values, no duplicates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Key Findings</a:t>
            </a:r>
          </a:p>
          <a:p>
            <a:pPr>
              <a:defRPr sz="2000"/>
            </a:pPr>
            <a:r>
              <a:t>• Transaction amounts: mean $298, median $211 (right-skewed)</a:t>
            </a:r>
          </a:p>
          <a:p>
            <a:pPr>
              <a:defRPr sz="2000"/>
            </a:pPr>
            <a:r>
              <a:t>• Customer ages: bimodal (18-25 students, 45-60 professionals)</a:t>
            </a:r>
          </a:p>
          <a:p>
            <a:pPr>
              <a:defRPr sz="2000"/>
            </a:pPr>
            <a:r>
              <a:t>• Peak hours: 10am-3pm (business hours)</a:t>
            </a:r>
          </a:p>
          <a:p>
            <a:pPr>
              <a:defRPr sz="2000"/>
            </a:pPr>
            <a:r>
              <a:t>• Channels: ATM 40%, Online 35%, Branch 25%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Q1: Exploratory Data Analysis -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Q1: Exploratory Data Analysis - Visualizations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Transaction Amount Distribution</a:t>
            </a:r>
          </a:p>
          <a:p>
            <a:pPr>
              <a:defRPr sz="2000"/>
            </a:pPr>
            <a:r>
              <a:t>• Most transactions under $500, long tail of higher amounts</a:t>
            </a:r>
          </a:p>
          <a:p>
            <a:pPr>
              <a:defRPr sz="2000"/>
            </a:pPr>
            <a:r>
              <a:t>• Right-skewed distribution typical for transaction data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Customer Age Distribution</a:t>
            </a:r>
          </a:p>
          <a:p>
            <a:pPr>
              <a:defRPr sz="2000"/>
            </a:pPr>
            <a:r>
              <a:t>• Bimodal pattern: young customers (18-25) and professionals (45-60)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Channel Distribution</a:t>
            </a:r>
          </a:p>
          <a:p>
            <a:pPr>
              <a:defRPr sz="2000"/>
            </a:pPr>
            <a:r>
              <a:t>• ATM most common (40%), followed by Online (35%) and Branch (25%)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Hourly Transaction Pattern</a:t>
            </a:r>
          </a:p>
          <a:p>
            <a:pPr>
              <a:defRPr sz="2000"/>
            </a:pPr>
            <a:r>
              <a:t>• Peak activity during business hours (10am-3pm)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08080"/>
                </a:solidFill>
              </a:defRPr>
            </a:pPr>
            <a:r>
              <a:t>INSERT IMAGE: Insert: eda_plot_9.png, eda_plot_10.png, eda_plot_13.png, eda_plot_17.png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Q1: Exploratory Data Analysis - Anomalies Detected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Q1: Exploratory Data Analysis - Anomalies Detected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High amount-to-balance ratio transactions</a:t>
            </a:r>
          </a:p>
          <a:p>
            <a:pPr>
              <a:defRPr sz="2000"/>
            </a:pPr>
            <a:r>
              <a:t>Late night transactions (00:00-05:59)</a:t>
            </a:r>
          </a:p>
          <a:p>
            <a:pPr>
              <a:defRPr sz="2000"/>
            </a:pPr>
            <a:r>
              <a:t>Multiple login attempts</a:t>
            </a:r>
          </a:p>
          <a:p>
            <a:pPr>
              <a:defRPr sz="2000"/>
            </a:pPr>
            <a:r>
              <a:t>Short transaction durations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Q2: Anomaly Detection Model -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Q2: Anomaly Detection Model - Approach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Primary: Isolation Forest (contamination=5%, n_estimators=200)</a:t>
            </a:r>
          </a:p>
          <a:p>
            <a:pPr>
              <a:defRPr sz="2000"/>
            </a:pPr>
            <a:r>
              <a:t>Validation: Local Outlier Factor (LOF) as secondary</a:t>
            </a:r>
          </a:p>
          <a:p>
            <a:pPr>
              <a:defRPr sz="2000"/>
            </a:pPr>
            <a:r>
              <a:t>Consensus: Transactions flagged by both = higher confidence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Q2: Anomaly Detection Model -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Q2: Anomaly Detection Model - Feature Engineering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Derived Features</a:t>
            </a:r>
          </a:p>
          <a:p>
            <a:pPr>
              <a:defRPr sz="2000"/>
            </a:pPr>
            <a:r>
              <a:t>• AmountToBalanceRatio</a:t>
            </a:r>
          </a:p>
          <a:p>
            <a:pPr>
              <a:defRPr sz="2000"/>
            </a:pPr>
            <a:r>
              <a:t>• DaysSincePrevTxn</a:t>
            </a:r>
          </a:p>
          <a:p>
            <a:pPr>
              <a:defRPr sz="2000"/>
            </a:pPr>
            <a:r>
              <a:t>• IsLateNight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Temporal Features</a:t>
            </a:r>
          </a:p>
          <a:p>
            <a:pPr>
              <a:defRPr sz="2000"/>
            </a:pPr>
            <a:r>
              <a:t>• TxnHour</a:t>
            </a:r>
          </a:p>
          <a:p>
            <a:pPr>
              <a:defRPr sz="2000"/>
            </a:pPr>
            <a:r>
              <a:t>• TxnDayOfWeek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Encoded Features</a:t>
            </a:r>
          </a:p>
          <a:p>
            <a:pPr>
              <a:defRPr sz="2000"/>
            </a:pPr>
            <a:r>
              <a:t>• Channel</a:t>
            </a:r>
          </a:p>
          <a:p>
            <a:pPr>
              <a:defRPr sz="2000"/>
            </a:pPr>
            <a:r>
              <a:t>• TransactionType</a:t>
            </a:r>
          </a:p>
          <a:p>
            <a:pPr>
              <a:defRPr sz="2000"/>
            </a:pPr>
            <a:r>
              <a:t>• CustomerOccupation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Q2: Anomaly Detection Model -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Q2: Anomaly Detection Model - Results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125 anomalies detected (5%)</a:t>
            </a:r>
          </a:p>
          <a:p>
            <a:pPr>
              <a:defRPr sz="2000"/>
            </a:pPr>
            <a:r>
              <a:t>85 consensus anomalies (both models agree)</a:t>
            </a:r>
          </a:p>
          <a:p>
            <a:pPr>
              <a:defRPr sz="2000"/>
            </a:pPr>
            <a:r>
              <a:t>Top features: AmountToBalanceRatio, TransactionAmount, LoginAttempts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Q2: Anomaly Detection Model - Risk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Q2: Anomaly Detection Model - Risk Scoring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High: score &lt; -0.15</a:t>
            </a:r>
          </a:p>
          <a:p>
            <a:pPr>
              <a:defRPr sz="2000"/>
            </a:pPr>
            <a:r>
              <a:t>Medium: score -0.15 to -0.05</a:t>
            </a:r>
          </a:p>
          <a:p>
            <a:pPr>
              <a:defRPr sz="2000"/>
            </a:pPr>
            <a:r>
              <a:t>Low: score &gt; -0.05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Q2: Anomaly Detection Model -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Q2: Anomaly Detection Model - Visualizations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Anomaly Score Distribution</a:t>
            </a:r>
          </a:p>
          <a:p>
            <a:pPr>
              <a:defRPr sz="2000"/>
            </a:pPr>
            <a:r>
              <a:t>• Clear separation between normal (higher scores) and anomalies (lower scores)</a:t>
            </a:r>
          </a:p>
          <a:p>
            <a:pPr>
              <a:defRPr sz="2000"/>
            </a:pPr>
            <a:r>
              <a:t>• Anomalies cluster around -0.2 to -0.3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Amount vs Balance</a:t>
            </a:r>
          </a:p>
          <a:p>
            <a:pPr>
              <a:defRPr sz="2000"/>
            </a:pPr>
            <a:r>
              <a:t>• Anomalies (red dots) tend to have high transaction amounts relative to balance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Feature Importance</a:t>
            </a:r>
          </a:p>
          <a:p>
            <a:pPr>
              <a:defRPr sz="2000"/>
            </a:pPr>
            <a:r>
              <a:t>• AmountToBalanceRatio is strongest predictor</a:t>
            </a:r>
          </a:p>
          <a:p>
            <a:pPr>
              <a:defRPr sz="2000"/>
            </a:pPr>
            <a:r>
              <a:t>• Followed by TransactionAmount and LoginAttempts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08080"/>
                </a:solidFill>
              </a:defRPr>
            </a:pPr>
            <a:r>
              <a:t>INSERT IMAGE: Insert: anomaly_plot_9.png, anomaly_plot_16.png, anomaly_plot_17.png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Q2: Anomaly Detection Model - API 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Q2: Anomaly Detection Model - API Test Results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Tested with suspicious transaction (high amount, late night, high login attempts):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is_anomaly: true</a:t>
            </a:r>
          </a:p>
          <a:p>
            <a:pPr>
              <a:defRPr sz="2000"/>
            </a:pPr>
            <a:r>
              <a:t>anomaly_score: -0.1303</a:t>
            </a:r>
          </a:p>
          <a:p>
            <a:pPr>
              <a:defRPr sz="2000"/>
            </a:pPr>
            <a:r>
              <a:t>risk_level: medium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contributing_factors:</a:t>
            </a:r>
          </a:p>
          <a:p>
            <a:pPr>
              <a:defRPr sz="2000"/>
            </a:pPr>
            <a:r>
              <a:t>• Login attempts tinggi (7x)</a:t>
            </a:r>
          </a:p>
          <a:p>
            <a:pPr>
              <a:defRPr sz="2000"/>
            </a:pPr>
            <a:r>
              <a:t>• Rasio amount/balance tinggi (78.19)</a:t>
            </a:r>
          </a:p>
          <a:p>
            <a:pPr>
              <a:defRPr sz="2000"/>
            </a:pPr>
            <a:r>
              <a:t>• Transaksi di jam tidak wajar (02:00)</a:t>
            </a:r>
          </a:p>
          <a:p>
            <a:pPr>
              <a:defRPr sz="2000"/>
            </a:pPr>
            <a:r>
              <a:t>• Nominal transaksi besar (9,500.00)</a:t>
            </a:r>
          </a:p>
          <a:p>
            <a:pPr>
              <a:defRPr sz="2000"/>
            </a:pPr>
            <a:r>
              <a:t>• Durasi transaksi sangat singkat (5s)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Q3: Production API -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Q3: Production API - Tech Stack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Tech Stack</a:t>
            </a:r>
          </a:p>
          <a:p>
            <a:pPr>
              <a:defRPr sz="2000"/>
            </a:pPr>
            <a:r>
              <a:t>• FastAPI (web framework)</a:t>
            </a:r>
          </a:p>
          <a:p>
            <a:pPr>
              <a:defRPr sz="2000"/>
            </a:pPr>
            <a:r>
              <a:t>• Pydantic (data validation)</a:t>
            </a:r>
          </a:p>
          <a:p>
            <a:pPr>
              <a:defRPr sz="2000"/>
            </a:pPr>
            <a:r>
              <a:t>• UV (package manager)</a:t>
            </a:r>
          </a:p>
          <a:p>
            <a:pPr>
              <a:defRPr sz="2000"/>
            </a:pPr>
            <a:r>
              <a:t>• Joblib (model serialization)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Endpoints</a:t>
            </a:r>
          </a:p>
          <a:p>
            <a:pPr>
              <a:defRPr sz="2000"/>
            </a:pPr>
            <a:r>
              <a:t>• GET /health - Health check</a:t>
            </a:r>
          </a:p>
          <a:p>
            <a:pPr>
              <a:defRPr sz="2000"/>
            </a:pPr>
            <a:r>
              <a:t>• POST /predict - Anomaly prediction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Q3: Production API -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Q3: Production API - Features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API Features</a:t>
            </a:r>
          </a:p>
          <a:p>
            <a:pPr>
              <a:defRPr sz="2000"/>
            </a:pPr>
            <a:r>
              <a:t>• Real-time scoring (&lt;10ms latency)</a:t>
            </a:r>
          </a:p>
          <a:p>
            <a:pPr>
              <a:defRPr sz="2000"/>
            </a:pPr>
            <a:r>
              <a:t>• Risk level classification</a:t>
            </a:r>
          </a:p>
          <a:p>
            <a:pPr>
              <a:defRPr sz="2000"/>
            </a:pPr>
            <a:r>
              <a:t>• Contributing factors explanation</a:t>
            </a:r>
          </a:p>
          <a:p>
            <a:pPr>
              <a:defRPr sz="2000"/>
            </a:pPr>
            <a:r>
              <a:t>• Docker support for deployment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Example Response</a:t>
            </a:r>
          </a:p>
          <a:p>
            <a:pPr>
              <a:defRPr sz="2000"/>
            </a:pPr>
            <a:r>
              <a:t>is_anomaly: true</a:t>
            </a:r>
          </a:p>
          <a:p>
            <a:pPr>
              <a:defRPr sz="2000"/>
            </a:pPr>
            <a:r>
              <a:t>anomaly_score: -0.1303</a:t>
            </a:r>
          </a:p>
          <a:p>
            <a:pPr>
              <a:defRPr sz="2000"/>
            </a:pPr>
            <a:r>
              <a:t>risk_level: medium</a:t>
            </a:r>
          </a:p>
          <a:p>
            <a:pPr>
              <a:defRPr sz="2000"/>
            </a:pPr>
            <a:r>
              <a:t>contributing_factors: [5 items]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